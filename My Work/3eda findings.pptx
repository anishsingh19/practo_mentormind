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sldIdLst>
    <p:sldId id="256" r:id="rId2"/>
    <p:sldId id="257" r:id="rId3"/>
    <p:sldId id="258" r:id="rId4"/>
    <p:sldId id="280" r:id="rId5"/>
    <p:sldId id="278" r:id="rId6"/>
    <p:sldId id="279" r:id="rId7"/>
    <p:sldId id="283" r:id="rId8"/>
    <p:sldId id="287" r:id="rId9"/>
    <p:sldId id="286" r:id="rId10"/>
    <p:sldId id="285" r:id="rId11"/>
    <p:sldId id="284" r:id="rId12"/>
    <p:sldId id="282" r:id="rId13"/>
    <p:sldId id="259" r:id="rId14"/>
    <p:sldId id="281" r:id="rId15"/>
    <p:sldId id="290" r:id="rId16"/>
    <p:sldId id="291" r:id="rId17"/>
    <p:sldId id="292" r:id="rId18"/>
    <p:sldId id="289" r:id="rId19"/>
    <p:sldId id="288" r:id="rId20"/>
    <p:sldId id="275" r:id="rId21"/>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6" d="100"/>
          <a:sy n="46" d="100"/>
        </p:scale>
        <p:origin x="756" y="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05256" y="1155701"/>
            <a:ext cx="16173450" cy="5029200"/>
          </a:xfrm>
        </p:spPr>
        <p:txBody>
          <a:bodyPr anchor="b">
            <a:noAutofit/>
          </a:bodyPr>
          <a:lstStyle>
            <a:lvl1pPr algn="l">
              <a:lnSpc>
                <a:spcPct val="80000"/>
              </a:lnSpc>
              <a:defRPr sz="13200" spc="-18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001269" y="6310314"/>
            <a:ext cx="13842302" cy="2468880"/>
          </a:xfrm>
        </p:spPr>
        <p:txBody>
          <a:bodyPr>
            <a:normAutofit/>
          </a:bodyPr>
          <a:lstStyle>
            <a:lvl1pPr marL="0" indent="0" algn="l">
              <a:buNone/>
              <a:defRPr sz="4800">
                <a:solidFill>
                  <a:schemeClr val="bg1"/>
                </a:solidFill>
                <a:latin typeface="+mj-lt"/>
              </a:defRPr>
            </a:lvl1pPr>
            <a:lvl2pPr marL="685800" indent="0" algn="ctr">
              <a:buNone/>
              <a:defRPr sz="42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1D8BD707-D9CF-40AE-B4C6-C98DA3205C09}" type="datetimeFigureOut">
              <a:rPr lang="en-US" smtClean="0"/>
              <a:t>10/6/2024</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02680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8502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05256" y="1151129"/>
            <a:ext cx="16171164" cy="5033772"/>
          </a:xfrm>
        </p:spPr>
        <p:txBody>
          <a:bodyPr anchor="b">
            <a:normAutofit/>
          </a:bodyPr>
          <a:lstStyle>
            <a:lvl1pPr>
              <a:lnSpc>
                <a:spcPct val="80000"/>
              </a:lnSpc>
              <a:defRPr sz="132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01268" y="6306314"/>
            <a:ext cx="13839444" cy="2468880"/>
          </a:xfrm>
        </p:spPr>
        <p:txBody>
          <a:bodyPr anchor="t">
            <a:normAutofit/>
          </a:bodyPr>
          <a:lstStyle>
            <a:lvl1pPr marL="0" indent="0">
              <a:buNone/>
              <a:defRPr sz="4800">
                <a:solidFill>
                  <a:schemeClr val="tx1"/>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66340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4984" y="2997201"/>
            <a:ext cx="6995160" cy="565099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016995" y="2997201"/>
            <a:ext cx="6995160" cy="565099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10/6/2024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02823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14984" y="3060701"/>
            <a:ext cx="6995160" cy="1085100"/>
          </a:xfrm>
        </p:spPr>
        <p:txBody>
          <a:bodyPr anchor="ctr">
            <a:normAutofit/>
          </a:bodyPr>
          <a:lstStyle>
            <a:lvl1pPr marL="0" indent="0">
              <a:buNone/>
              <a:defRPr sz="3300" b="0" cap="all" baseline="0">
                <a:solidFill>
                  <a:schemeClr val="tx1">
                    <a:lumMod val="85000"/>
                    <a:lumOff val="15000"/>
                  </a:schemeClr>
                </a:solidFill>
                <a:latin typeface="+mj-lt"/>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4984" y="4129626"/>
            <a:ext cx="6995160" cy="4800600"/>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011412" y="3057653"/>
            <a:ext cx="6995160" cy="1083564"/>
          </a:xfrm>
        </p:spPr>
        <p:txBody>
          <a:bodyPr anchor="ctr">
            <a:normAutofit/>
          </a:bodyPr>
          <a:lstStyle>
            <a:lvl1pPr marL="0" indent="0">
              <a:buNone/>
              <a:defRPr sz="3300" b="0" cap="all" baseline="0">
                <a:solidFill>
                  <a:schemeClr val="tx1">
                    <a:lumMod val="85000"/>
                    <a:lumOff val="15000"/>
                  </a:schemeClr>
                </a:solidFill>
                <a:latin typeface="+mj-lt"/>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011412" y="4126485"/>
            <a:ext cx="6995160" cy="4800600"/>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10/6/2024</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75611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10/6/2024</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39423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10/6/2024</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48976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11430000" y="0"/>
            <a:ext cx="685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12392106" y="813423"/>
            <a:ext cx="5074920" cy="2880360"/>
          </a:xfrm>
        </p:spPr>
        <p:txBody>
          <a:bodyPr anchor="b">
            <a:noAutofit/>
          </a:bodyPr>
          <a:lstStyle>
            <a:lvl1pPr>
              <a:lnSpc>
                <a:spcPct val="85000"/>
              </a:lnSpc>
              <a:defRPr sz="6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1143000" y="1143000"/>
            <a:ext cx="9144000" cy="685800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413973" y="3767720"/>
            <a:ext cx="5097780" cy="4690481"/>
          </a:xfrm>
        </p:spPr>
        <p:txBody>
          <a:bodyPr>
            <a:normAutofit/>
          </a:bodyPr>
          <a:lstStyle>
            <a:lvl1pPr marL="0" marR="0" indent="0" algn="l" defTabSz="1371600" rtl="0" eaLnBrk="1" fontAlgn="auto" latinLnBrk="0" hangingPunct="1">
              <a:lnSpc>
                <a:spcPct val="100000"/>
              </a:lnSpc>
              <a:spcBef>
                <a:spcPts val="1800"/>
              </a:spcBef>
              <a:spcAft>
                <a:spcPts val="0"/>
              </a:spcAft>
              <a:buClrTx/>
              <a:buSzTx/>
              <a:buFontTx/>
              <a:buNone/>
              <a:tabLst/>
              <a:defRPr sz="2700">
                <a:solidFill>
                  <a:srgbClr val="262626"/>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marL="0" marR="0" lvl="0" indent="0" algn="l" defTabSz="1371600" rtl="0" eaLnBrk="1" fontAlgn="auto" latinLnBrk="0" hangingPunct="1">
              <a:lnSpc>
                <a:spcPct val="100000"/>
              </a:lnSpc>
              <a:spcBef>
                <a:spcPts val="21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10/6/2024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009194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3836" y="8128001"/>
            <a:ext cx="16171164" cy="919925"/>
          </a:xfrm>
        </p:spPr>
        <p:txBody>
          <a:bodyPr anchor="b">
            <a:normAutofit/>
          </a:bodyPr>
          <a:lstStyle>
            <a:lvl1pPr>
              <a:defRPr sz="4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8288000" cy="7996428"/>
          </a:xfrm>
          <a:solidFill>
            <a:schemeClr val="accent1">
              <a:lumMod val="40000"/>
              <a:lumOff val="60000"/>
            </a:schemeClr>
          </a:solidFill>
        </p:spPr>
        <p:txBody>
          <a:bodyPr anchor="t"/>
          <a:lstStyle>
            <a:lvl1pPr marL="0" indent="0" algn="ctr">
              <a:spcBef>
                <a:spcPts val="1200"/>
              </a:spcBef>
              <a:buNone/>
              <a:defRPr sz="4800">
                <a:solidFill>
                  <a:schemeClr val="tx1">
                    <a:lumMod val="75000"/>
                    <a:lumOff val="25000"/>
                  </a:schemeClr>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014984" y="8864603"/>
            <a:ext cx="13844016" cy="800100"/>
          </a:xfrm>
        </p:spPr>
        <p:txBody>
          <a:bodyPr>
            <a:normAutofit/>
          </a:bodyPr>
          <a:lstStyle>
            <a:lvl1pPr marL="0" indent="0">
              <a:lnSpc>
                <a:spcPct val="90000"/>
              </a:lnSpc>
              <a:buNone/>
              <a:defRPr sz="2100">
                <a:solidFill>
                  <a:srgbClr val="262626"/>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1D8BD707-D9CF-40AE-B4C6-C98DA3205C09}" type="datetimeFigureOut">
              <a:rPr lang="en-US" smtClean="0"/>
              <a:t>10/6/2024</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48321216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8419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115925" y="1042988"/>
            <a:ext cx="3943350" cy="72009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57288" y="1071563"/>
            <a:ext cx="11601450" cy="81010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8426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85837" y="749300"/>
            <a:ext cx="16159163" cy="2487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14985" y="3017520"/>
            <a:ext cx="16130588" cy="56492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8700" y="9618671"/>
            <a:ext cx="6172200" cy="342900"/>
          </a:xfrm>
          <a:prstGeom prst="rect">
            <a:avLst/>
          </a:prstGeom>
        </p:spPr>
        <p:txBody>
          <a:bodyPr vert="horz" lIns="91440" tIns="45720" rIns="91440" bIns="45720" rtlCol="0" anchor="ctr"/>
          <a:lstStyle>
            <a:lvl1pPr algn="l">
              <a:defRPr sz="1425">
                <a:solidFill>
                  <a:schemeClr val="tx1">
                    <a:alpha val="80000"/>
                  </a:schemeClr>
                </a:solidFill>
              </a:defRPr>
            </a:lvl1pPr>
          </a:lstStyle>
          <a:p>
            <a:fld id="{1D8BD707-D9CF-40AE-B4C6-C98DA3205C09}" type="datetimeFigureOut">
              <a:rPr lang="en-US" smtClean="0"/>
              <a:t>10/6/2024</a:t>
            </a:fld>
            <a:endParaRPr lang="en-US"/>
          </a:p>
        </p:txBody>
      </p:sp>
      <p:sp>
        <p:nvSpPr>
          <p:cNvPr id="5" name="Footer Placeholder 4"/>
          <p:cNvSpPr>
            <a:spLocks noGrp="1"/>
          </p:cNvSpPr>
          <p:nvPr>
            <p:ph type="ftr" sz="quarter" idx="3"/>
          </p:nvPr>
        </p:nvSpPr>
        <p:spPr>
          <a:xfrm>
            <a:off x="1028700" y="9832046"/>
            <a:ext cx="7543800" cy="342900"/>
          </a:xfrm>
          <a:prstGeom prst="rect">
            <a:avLst/>
          </a:prstGeom>
        </p:spPr>
        <p:txBody>
          <a:bodyPr vert="horz" lIns="91440" tIns="45720" rIns="91440" bIns="45720" rtlCol="0" anchor="ctr"/>
          <a:lstStyle>
            <a:lvl1pPr algn="l">
              <a:defRPr sz="1425"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13145889" y="8814619"/>
            <a:ext cx="4389120" cy="2095559"/>
          </a:xfrm>
          <a:prstGeom prst="rect">
            <a:avLst/>
          </a:prstGeom>
        </p:spPr>
        <p:txBody>
          <a:bodyPr vert="horz" lIns="91440" tIns="45720" rIns="91440" bIns="45720" rtlCol="0" anchor="b"/>
          <a:lstStyle>
            <a:lvl1pPr algn="r">
              <a:defRPr sz="15450" b="0">
                <a:ln>
                  <a:noFill/>
                </a:ln>
                <a:solidFill>
                  <a:schemeClr val="accent1">
                    <a:alpha val="25000"/>
                  </a:schemeClr>
                </a:solidFill>
                <a:latin typeface="+mj-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93402974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1371600" rtl="0" eaLnBrk="1" latinLnBrk="0" hangingPunct="1">
        <a:lnSpc>
          <a:spcPct val="85000"/>
        </a:lnSpc>
        <a:spcBef>
          <a:spcPct val="0"/>
        </a:spcBef>
        <a:buNone/>
        <a:defRPr sz="8100" kern="1200" spc="-180" baseline="0">
          <a:solidFill>
            <a:schemeClr val="accent1"/>
          </a:solidFill>
          <a:latin typeface="+mj-lt"/>
          <a:ea typeface="+mj-ea"/>
          <a:cs typeface="+mj-cs"/>
        </a:defRPr>
      </a:lvl1pPr>
    </p:titleStyle>
    <p:bodyStyle>
      <a:lvl1pPr marL="137160" indent="-137160" algn="l" defTabSz="1371600" rtl="0" eaLnBrk="1" latinLnBrk="0" hangingPunct="1">
        <a:lnSpc>
          <a:spcPct val="85000"/>
        </a:lnSpc>
        <a:spcBef>
          <a:spcPts val="1950"/>
        </a:spcBef>
        <a:buFont typeface="Arial" pitchFamily="34" charset="0"/>
        <a:buChar char=" "/>
        <a:defRPr sz="3600" kern="1200">
          <a:solidFill>
            <a:schemeClr val="tx1">
              <a:lumMod val="85000"/>
              <a:lumOff val="15000"/>
            </a:schemeClr>
          </a:solidFill>
          <a:latin typeface="+mn-lt"/>
          <a:ea typeface="+mn-ea"/>
          <a:cs typeface="+mn-cs"/>
        </a:defRPr>
      </a:lvl1pPr>
      <a:lvl2pPr marL="521208" indent="-514350" algn="l" defTabSz="1371600" rtl="0" eaLnBrk="1" latinLnBrk="0" hangingPunct="1">
        <a:lnSpc>
          <a:spcPct val="85000"/>
        </a:lnSpc>
        <a:spcBef>
          <a:spcPts val="900"/>
        </a:spcBef>
        <a:buFont typeface="Arial" pitchFamily="34" charset="0"/>
        <a:buChar char=" "/>
        <a:defRPr sz="3600" kern="1200">
          <a:solidFill>
            <a:schemeClr val="tx1">
              <a:lumMod val="85000"/>
              <a:lumOff val="15000"/>
            </a:schemeClr>
          </a:solidFill>
          <a:latin typeface="+mn-lt"/>
          <a:ea typeface="+mn-ea"/>
          <a:cs typeface="+mn-cs"/>
        </a:defRPr>
      </a:lvl2pPr>
      <a:lvl3pPr marL="822960" indent="-822960" algn="l" defTabSz="1371600" rtl="0" eaLnBrk="1" latinLnBrk="0" hangingPunct="1">
        <a:lnSpc>
          <a:spcPct val="85000"/>
        </a:lnSpc>
        <a:spcBef>
          <a:spcPts val="900"/>
        </a:spcBef>
        <a:buFont typeface="Arial" pitchFamily="34" charset="0"/>
        <a:buChar char=" "/>
        <a:defRPr sz="3000" i="1" kern="1200">
          <a:solidFill>
            <a:schemeClr val="tx1">
              <a:lumMod val="85000"/>
              <a:lumOff val="15000"/>
            </a:schemeClr>
          </a:solidFill>
          <a:latin typeface="+mn-lt"/>
          <a:ea typeface="+mn-ea"/>
          <a:cs typeface="+mn-cs"/>
        </a:defRPr>
      </a:lvl3pPr>
      <a:lvl4pPr marL="1234440" indent="-123444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4pPr>
      <a:lvl5pPr marL="1645920" indent="-164592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5pPr>
      <a:lvl6pPr marL="1800000" indent="-34290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6pPr>
      <a:lvl7pPr marL="2100000" indent="-34290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7pPr>
      <a:lvl8pPr marL="2400000" indent="-34290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8pPr>
      <a:lvl9pPr marL="2700000" indent="-342900" algn="l" defTabSz="1371600" rtl="0" eaLnBrk="1" latinLnBrk="0" hangingPunct="1">
        <a:lnSpc>
          <a:spcPct val="85000"/>
        </a:lnSpc>
        <a:spcBef>
          <a:spcPts val="900"/>
        </a:spcBef>
        <a:buFont typeface="Arial" pitchFamily="34" charset="0"/>
        <a:buChar char=" "/>
        <a:defRPr sz="2700" kern="1200">
          <a:solidFill>
            <a:schemeClr val="tx1">
              <a:lumMod val="85000"/>
              <a:lumOff val="1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rive.google.com/file/d/16DeG8mBHOMjYZYsuoc1r_7ivwMZf6mOA/vie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3006090" y="2857500"/>
            <a:ext cx="12275820" cy="1549400"/>
          </a:xfrm>
          <a:prstGeom prst="rect">
            <a:avLst/>
          </a:prstGeom>
        </p:spPr>
        <p:txBody>
          <a:bodyPr vert="horz" wrap="square" lIns="0" tIns="12700" rIns="0" bIns="0" rtlCol="0">
            <a:spAutoFit/>
          </a:bodyPr>
          <a:lstStyle/>
          <a:p>
            <a:pPr marL="12700">
              <a:lnSpc>
                <a:spcPct val="100000"/>
              </a:lnSpc>
              <a:spcBef>
                <a:spcPts val="100"/>
              </a:spcBef>
            </a:pPr>
            <a:r>
              <a:rPr lang="en-US" sz="10000" dirty="0"/>
              <a:t>Exploratory Data Analysis</a:t>
            </a:r>
            <a:endParaRPr lang="en-IN" sz="10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5037673" y="1104900"/>
            <a:ext cx="8212654" cy="1166986"/>
          </a:xfrm>
          <a:prstGeom prst="rect">
            <a:avLst/>
          </a:prstGeom>
        </p:spPr>
        <p:txBody>
          <a:bodyPr vert="horz" wrap="square" lIns="0" tIns="12700" rIns="0" bIns="0" rtlCol="0">
            <a:spAutoFit/>
          </a:bodyPr>
          <a:lstStyle/>
          <a:p>
            <a:pPr marL="12700">
              <a:lnSpc>
                <a:spcPct val="100000"/>
              </a:lnSpc>
              <a:spcBef>
                <a:spcPts val="100"/>
              </a:spcBef>
            </a:pPr>
            <a:r>
              <a:rPr lang="en-US" sz="7500" spc="660" dirty="0"/>
              <a:t>INTRODUCTION</a:t>
            </a:r>
            <a:endParaRPr sz="7500" dirty="0"/>
          </a:p>
        </p:txBody>
      </p:sp>
      <p:sp>
        <p:nvSpPr>
          <p:cNvPr id="7" name="Rectangle 1"/>
          <p:cNvSpPr>
            <a:spLocks noChangeArrowheads="1"/>
          </p:cNvSpPr>
          <p:nvPr/>
        </p:nvSpPr>
        <p:spPr bwMode="auto">
          <a:xfrm>
            <a:off x="1295400" y="2933700"/>
            <a:ext cx="15544800" cy="397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69900" marR="0" lvl="0" indent="-457200" algn="just" fontAlgn="base">
              <a:lnSpc>
                <a:spcPct val="116300"/>
              </a:lnSpc>
              <a:spcBef>
                <a:spcPct val="0"/>
              </a:spcBef>
              <a:spcAft>
                <a:spcPct val="0"/>
              </a:spcAft>
              <a:buClrTx/>
              <a:buSzTx/>
              <a:buFont typeface="Arial" panose="020B0604020202020204" pitchFamily="34" charset="0"/>
              <a:buChar char="•"/>
              <a:tabLst/>
            </a:pPr>
            <a:r>
              <a:rPr lang="en-US" sz="3200" spc="75" dirty="0">
                <a:latin typeface="Trebuchet MS"/>
                <a:cs typeface="Trebuchet MS"/>
              </a:rPr>
              <a:t>Objective: This analysis aims to explore the distribution of individual health indicators (</a:t>
            </a:r>
            <a:r>
              <a:rPr lang="en-US" sz="3200" spc="75" dirty="0" err="1">
                <a:latin typeface="Trebuchet MS"/>
                <a:cs typeface="Trebuchet MS"/>
              </a:rPr>
              <a:t>univariate</a:t>
            </a:r>
            <a:r>
              <a:rPr lang="en-US" sz="3200" spc="75" dirty="0">
                <a:latin typeface="Trebuchet MS"/>
                <a:cs typeface="Trebuchet MS"/>
              </a:rPr>
              <a:t> analysis) and their relationships with heart disease (bivariate analysis).</a:t>
            </a:r>
          </a:p>
          <a:p>
            <a:pPr marL="12700" marR="0" lvl="0" algn="just" fontAlgn="base">
              <a:lnSpc>
                <a:spcPct val="116300"/>
              </a:lnSpc>
              <a:spcBef>
                <a:spcPct val="0"/>
              </a:spcBef>
              <a:spcAft>
                <a:spcPct val="0"/>
              </a:spcAft>
              <a:buClrTx/>
              <a:buSzTx/>
              <a:tabLst/>
            </a:pPr>
            <a:endParaRPr lang="en-US" sz="2000" spc="75" dirty="0">
              <a:latin typeface="Trebuchet MS"/>
              <a:cs typeface="Trebuchet MS"/>
            </a:endParaRPr>
          </a:p>
          <a:p>
            <a:pPr marL="469900" marR="0" lvl="0" indent="-457200" algn="just" fontAlgn="base">
              <a:lnSpc>
                <a:spcPct val="116300"/>
              </a:lnSpc>
              <a:spcBef>
                <a:spcPct val="0"/>
              </a:spcBef>
              <a:spcAft>
                <a:spcPct val="0"/>
              </a:spcAft>
              <a:buClrTx/>
              <a:buSzTx/>
              <a:buFont typeface="Arial" panose="020B0604020202020204" pitchFamily="34" charset="0"/>
              <a:buChar char="•"/>
              <a:tabLst/>
            </a:pPr>
            <a:r>
              <a:rPr lang="en-US" sz="3200" spc="75" dirty="0">
                <a:latin typeface="Trebuchet MS"/>
                <a:cs typeface="Trebuchet MS"/>
              </a:rPr>
              <a:t>Data Source: Heart Disease Health Indicators Dataset </a:t>
            </a:r>
            <a:r>
              <a:rPr lang="en-US" sz="2000" spc="75" dirty="0">
                <a:latin typeface="Trebuchet MS"/>
                <a:cs typeface="Trebuchet MS"/>
                <a:hlinkClick r:id="rId2"/>
              </a:rPr>
              <a:t>https://drive.google.com/file/d/16DeG8mBHOMjYZYsuoc1r_7ivwMZf6mOA/view</a:t>
            </a:r>
            <a:endParaRPr lang="en-US" sz="2000" spc="75" dirty="0">
              <a:latin typeface="Trebuchet MS"/>
              <a:cs typeface="Trebuchet MS"/>
            </a:endParaRPr>
          </a:p>
          <a:p>
            <a:pPr marL="469900" marR="0" lvl="0" indent="-457200" algn="just" fontAlgn="base">
              <a:lnSpc>
                <a:spcPct val="116300"/>
              </a:lnSpc>
              <a:spcBef>
                <a:spcPct val="0"/>
              </a:spcBef>
              <a:spcAft>
                <a:spcPct val="0"/>
              </a:spcAft>
              <a:buClrTx/>
              <a:buSzTx/>
              <a:buFont typeface="Arial" panose="020B0604020202020204" pitchFamily="34" charset="0"/>
              <a:buChar char="•"/>
              <a:tabLst/>
            </a:pPr>
            <a:endParaRPr lang="en-US" sz="2000" spc="75" dirty="0">
              <a:latin typeface="Trebuchet MS"/>
              <a:cs typeface="Trebuchet MS"/>
            </a:endParaRPr>
          </a:p>
          <a:p>
            <a:pPr marL="469900" marR="0" lvl="0" indent="-457200" algn="just" fontAlgn="base">
              <a:lnSpc>
                <a:spcPct val="116300"/>
              </a:lnSpc>
              <a:spcBef>
                <a:spcPct val="0"/>
              </a:spcBef>
              <a:spcAft>
                <a:spcPct val="0"/>
              </a:spcAft>
              <a:buClrTx/>
              <a:buSzTx/>
              <a:buFont typeface="Arial" panose="020B0604020202020204" pitchFamily="34" charset="0"/>
              <a:buChar char="•"/>
              <a:tabLst/>
            </a:pPr>
            <a:r>
              <a:rPr lang="en-US" sz="3200" spc="75" dirty="0">
                <a:latin typeface="Trebuchet MS"/>
                <a:cs typeface="Trebuchet MS"/>
              </a:rPr>
              <a:t>Methodology: Using bar charts, pie charts, and pivot tables to identify trends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2145030" y="1466433"/>
            <a:ext cx="13997940" cy="1320800"/>
          </a:xfrm>
          <a:custGeom>
            <a:avLst/>
            <a:gdLst/>
            <a:ahLst/>
            <a:cxnLst/>
            <a:rect l="l" t="t" r="r" b="b"/>
            <a:pathLst>
              <a:path w="13997940" h="1320800">
                <a:moveTo>
                  <a:pt x="13667282" y="1320800"/>
                </a:moveTo>
                <a:lnTo>
                  <a:pt x="330199" y="1320800"/>
                </a:lnTo>
                <a:lnTo>
                  <a:pt x="281405" y="1317219"/>
                </a:lnTo>
                <a:lnTo>
                  <a:pt x="234833" y="1306819"/>
                </a:lnTo>
                <a:lnTo>
                  <a:pt x="190996" y="1290110"/>
                </a:lnTo>
                <a:lnTo>
                  <a:pt x="150402" y="1267602"/>
                </a:lnTo>
                <a:lnTo>
                  <a:pt x="113564" y="1239807"/>
                </a:lnTo>
                <a:lnTo>
                  <a:pt x="80992" y="1207235"/>
                </a:lnTo>
                <a:lnTo>
                  <a:pt x="53197" y="1170397"/>
                </a:lnTo>
                <a:lnTo>
                  <a:pt x="30689" y="1129804"/>
                </a:lnTo>
                <a:lnTo>
                  <a:pt x="13980" y="1085966"/>
                </a:lnTo>
                <a:lnTo>
                  <a:pt x="3580" y="1039394"/>
                </a:lnTo>
                <a:lnTo>
                  <a:pt x="0" y="990600"/>
                </a:lnTo>
                <a:lnTo>
                  <a:pt x="0" y="330200"/>
                </a:lnTo>
                <a:lnTo>
                  <a:pt x="3580" y="281405"/>
                </a:lnTo>
                <a:lnTo>
                  <a:pt x="13980" y="234833"/>
                </a:lnTo>
                <a:lnTo>
                  <a:pt x="30689" y="190996"/>
                </a:lnTo>
                <a:lnTo>
                  <a:pt x="53197" y="150402"/>
                </a:lnTo>
                <a:lnTo>
                  <a:pt x="80992" y="113564"/>
                </a:lnTo>
                <a:lnTo>
                  <a:pt x="113564" y="80992"/>
                </a:lnTo>
                <a:lnTo>
                  <a:pt x="150402" y="53197"/>
                </a:lnTo>
                <a:lnTo>
                  <a:pt x="190996" y="30689"/>
                </a:lnTo>
                <a:lnTo>
                  <a:pt x="234833" y="13980"/>
                </a:lnTo>
                <a:lnTo>
                  <a:pt x="281405" y="3580"/>
                </a:lnTo>
                <a:lnTo>
                  <a:pt x="330199" y="0"/>
                </a:lnTo>
                <a:lnTo>
                  <a:pt x="13667282" y="0"/>
                </a:lnTo>
                <a:lnTo>
                  <a:pt x="13719249" y="4113"/>
                </a:lnTo>
                <a:lnTo>
                  <a:pt x="13769468" y="16208"/>
                </a:lnTo>
                <a:lnTo>
                  <a:pt x="13817052" y="35918"/>
                </a:lnTo>
                <a:lnTo>
                  <a:pt x="13861115" y="62876"/>
                </a:lnTo>
                <a:lnTo>
                  <a:pt x="13900769" y="96713"/>
                </a:lnTo>
                <a:lnTo>
                  <a:pt x="13934606" y="136367"/>
                </a:lnTo>
                <a:lnTo>
                  <a:pt x="13961563" y="180430"/>
                </a:lnTo>
                <a:lnTo>
                  <a:pt x="13981273" y="228014"/>
                </a:lnTo>
                <a:lnTo>
                  <a:pt x="13993368" y="278233"/>
                </a:lnTo>
                <a:lnTo>
                  <a:pt x="13997482" y="330200"/>
                </a:lnTo>
                <a:lnTo>
                  <a:pt x="13997482" y="990600"/>
                </a:lnTo>
                <a:lnTo>
                  <a:pt x="13993368" y="1042566"/>
                </a:lnTo>
                <a:lnTo>
                  <a:pt x="13981273" y="1092785"/>
                </a:lnTo>
                <a:lnTo>
                  <a:pt x="13961563" y="1140369"/>
                </a:lnTo>
                <a:lnTo>
                  <a:pt x="13934606" y="1184432"/>
                </a:lnTo>
                <a:lnTo>
                  <a:pt x="13900769" y="1224086"/>
                </a:lnTo>
                <a:lnTo>
                  <a:pt x="13861115" y="1257923"/>
                </a:lnTo>
                <a:lnTo>
                  <a:pt x="13817052" y="1284881"/>
                </a:lnTo>
                <a:lnTo>
                  <a:pt x="13769468" y="1304591"/>
                </a:lnTo>
                <a:lnTo>
                  <a:pt x="13719249" y="1316686"/>
                </a:lnTo>
                <a:lnTo>
                  <a:pt x="13667282" y="1320800"/>
                </a:lnTo>
                <a:close/>
              </a:path>
            </a:pathLst>
          </a:custGeom>
          <a:solidFill>
            <a:srgbClr val="B0DDDE"/>
          </a:solidFill>
        </p:spPr>
        <p:txBody>
          <a:bodyPr wrap="square" lIns="0" tIns="0" rIns="0" bIns="0" rtlCol="0"/>
          <a:lstStyle/>
          <a:p>
            <a:endParaRPr dirty="0"/>
          </a:p>
        </p:txBody>
      </p:sp>
      <p:sp>
        <p:nvSpPr>
          <p:cNvPr id="8" name="object 8"/>
          <p:cNvSpPr txBox="1">
            <a:spLocks noGrp="1"/>
          </p:cNvSpPr>
          <p:nvPr>
            <p:ph type="title"/>
          </p:nvPr>
        </p:nvSpPr>
        <p:spPr>
          <a:xfrm>
            <a:off x="2968163" y="1618833"/>
            <a:ext cx="13154025" cy="1016000"/>
          </a:xfrm>
          <a:prstGeom prst="rect">
            <a:avLst/>
          </a:prstGeom>
        </p:spPr>
        <p:txBody>
          <a:bodyPr vert="horz" wrap="square" lIns="0" tIns="12700" rIns="0" bIns="0" rtlCol="0">
            <a:spAutoFit/>
          </a:bodyPr>
          <a:lstStyle/>
          <a:p>
            <a:pPr marL="12700" algn="ctr">
              <a:lnSpc>
                <a:spcPct val="100000"/>
              </a:lnSpc>
              <a:spcBef>
                <a:spcPts val="100"/>
              </a:spcBef>
            </a:pPr>
            <a:r>
              <a:rPr lang="en-US" sz="6500" dirty="0"/>
              <a:t>UNIVARIATE ANALYSIS</a:t>
            </a:r>
            <a:endParaRPr sz="6500" dirty="0"/>
          </a:p>
        </p:txBody>
      </p:sp>
      <p:sp>
        <p:nvSpPr>
          <p:cNvPr id="15" name="Rectangle 1"/>
          <p:cNvSpPr>
            <a:spLocks noChangeArrowheads="1"/>
          </p:cNvSpPr>
          <p:nvPr/>
        </p:nvSpPr>
        <p:spPr bwMode="auto">
          <a:xfrm>
            <a:off x="1404966" y="3390900"/>
            <a:ext cx="15478067" cy="453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Definition:</a:t>
            </a:r>
            <a:r>
              <a:rPr kumimoji="0" lang="en-US" sz="2800" b="0" i="0" u="none" strike="noStrike" cap="none" normalizeH="0" baseline="0" dirty="0">
                <a:ln>
                  <a:noFill/>
                </a:ln>
                <a:solidFill>
                  <a:schemeClr val="tx1"/>
                </a:solidFill>
                <a:effectLst/>
                <a:latin typeface="Arial" panose="020B0604020202020204" pitchFamily="34" charset="0"/>
              </a:rPr>
              <a:t> </a:t>
            </a:r>
            <a:r>
              <a:rPr kumimoji="0" lang="en-US" sz="2800" b="0" i="0" u="none" strike="noStrike" cap="none" normalizeH="0" baseline="0" dirty="0" err="1">
                <a:ln>
                  <a:noFill/>
                </a:ln>
                <a:solidFill>
                  <a:schemeClr val="tx1"/>
                </a:solidFill>
                <a:effectLst/>
                <a:latin typeface="Arial" panose="020B0604020202020204" pitchFamily="34" charset="0"/>
              </a:rPr>
              <a:t>Univariate</a:t>
            </a:r>
            <a:r>
              <a:rPr kumimoji="0" lang="en-US" sz="2800" b="0" i="0" u="none" strike="noStrike" cap="none" normalizeH="0" baseline="0" dirty="0">
                <a:ln>
                  <a:noFill/>
                </a:ln>
                <a:solidFill>
                  <a:schemeClr val="tx1"/>
                </a:solidFill>
                <a:effectLst/>
                <a:latin typeface="Arial" panose="020B0604020202020204" pitchFamily="34" charset="0"/>
              </a:rPr>
              <a:t> analysis refers to the examination of a single variable (or feature) at a time. It helps in understanding the distribution, central tendency (mean, median), and spread (variance, standard deviation) of the data.</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Use:</a:t>
            </a:r>
            <a:r>
              <a:rPr kumimoji="0" lang="en-US" sz="2800" b="0" i="0" u="none" strike="noStrike" cap="none" normalizeH="0" baseline="0" dirty="0">
                <a:ln>
                  <a:noFill/>
                </a:ln>
                <a:solidFill>
                  <a:schemeClr val="tx1"/>
                </a:solidFill>
                <a:effectLst/>
                <a:latin typeface="Arial" panose="020B0604020202020204" pitchFamily="34" charset="0"/>
              </a:rPr>
              <a:t> This analysis is used to summarize and describe the individual characteristics of a variable. It’s helpful in identifying patterns, outliers, and trends for that particular feature.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Example:</a:t>
            </a:r>
            <a:r>
              <a:rPr kumimoji="0" lang="en-US" sz="2800" b="0" i="0" u="none" strike="noStrike" cap="none" normalizeH="0" baseline="0" dirty="0">
                <a:ln>
                  <a:noFill/>
                </a:ln>
                <a:solidFill>
                  <a:schemeClr val="tx1"/>
                </a:solidFill>
                <a:effectLst/>
                <a:latin typeface="Arial" panose="020B0604020202020204" pitchFamily="34" charset="0"/>
              </a:rPr>
              <a:t> In a heart disease dataset, </a:t>
            </a:r>
            <a:r>
              <a:rPr kumimoji="0" lang="en-US" sz="2800" b="0" i="0" u="none" strike="noStrike" cap="none" normalizeH="0" baseline="0" dirty="0" err="1">
                <a:ln>
                  <a:noFill/>
                </a:ln>
                <a:solidFill>
                  <a:schemeClr val="tx1"/>
                </a:solidFill>
                <a:effectLst/>
                <a:latin typeface="Arial" panose="020B0604020202020204" pitchFamily="34" charset="0"/>
              </a:rPr>
              <a:t>univariate</a:t>
            </a:r>
            <a:r>
              <a:rPr kumimoji="0" lang="en-US" sz="2800" b="0" i="0" u="none" strike="noStrike" cap="none" normalizeH="0" baseline="0" dirty="0">
                <a:ln>
                  <a:noFill/>
                </a:ln>
                <a:solidFill>
                  <a:schemeClr val="tx1"/>
                </a:solidFill>
                <a:effectLst/>
                <a:latin typeface="Arial" panose="020B0604020202020204" pitchFamily="34" charset="0"/>
              </a:rPr>
              <a:t> analysis could involve examining the distribution of BMI or age using histograms or box plots.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753599" y="1261112"/>
            <a:ext cx="7229673" cy="7311388"/>
          </a:xfrm>
          <a:prstGeom prst="rect">
            <a:avLst/>
          </a:prstGeom>
        </p:spPr>
      </p:pic>
      <p:sp>
        <p:nvSpPr>
          <p:cNvPr id="9"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2"/>
          <p:cNvSpPr>
            <a:spLocks noChangeArrowheads="1"/>
          </p:cNvSpPr>
          <p:nvPr/>
        </p:nvSpPr>
        <p:spPr bwMode="auto">
          <a:xfrm>
            <a:off x="1600200" y="1714500"/>
            <a:ext cx="7467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Histogram of Age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kumimoji="0" lang="en-US" sz="3200" b="0" i="0" u="none" strike="noStrike" cap="none" normalizeH="0" baseline="0" dirty="0">
                <a:ln>
                  <a:noFill/>
                </a:ln>
                <a:solidFill>
                  <a:schemeClr val="tx1"/>
                </a:solidFill>
                <a:effectLst/>
                <a:latin typeface="Arial" panose="020B0604020202020204" pitchFamily="34" charset="0"/>
              </a:rPr>
              <a:t>: Age distribution is slightly skewed to the right, with a higher frequency of individuals between 6-10 years.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kumimoji="0" lang="en-US" sz="3200" b="0" i="0" u="none" strike="noStrike" cap="none" normalizeH="0" baseline="0" dirty="0">
                <a:ln>
                  <a:noFill/>
                </a:ln>
                <a:solidFill>
                  <a:schemeClr val="tx1"/>
                </a:solidFill>
                <a:effectLst/>
                <a:latin typeface="Arial" panose="020B0604020202020204" pitchFamily="34" charset="0"/>
              </a:rPr>
              <a:t>: This age range might be a critical group to target for health interventions related to heart disease. </a:t>
            </a:r>
          </a:p>
        </p:txBody>
      </p:sp>
    </p:spTree>
    <p:extLst>
      <p:ext uri="{BB962C8B-B14F-4D97-AF65-F5344CB8AC3E}">
        <p14:creationId xmlns:p14="http://schemas.microsoft.com/office/powerpoint/2010/main" val="2201276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8839200" y="1381808"/>
            <a:ext cx="8667750" cy="7495491"/>
          </a:xfrm>
          <a:prstGeom prst="rect">
            <a:avLst/>
          </a:prstGeom>
        </p:spPr>
      </p:pic>
      <p:sp>
        <p:nvSpPr>
          <p:cNvPr id="2" name="Rectangle 1"/>
          <p:cNvSpPr>
            <a:spLocks noChangeArrowheads="1"/>
          </p:cNvSpPr>
          <p:nvPr/>
        </p:nvSpPr>
        <p:spPr bwMode="auto">
          <a:xfrm>
            <a:off x="1143000" y="1795983"/>
            <a:ext cx="7499719"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sz="3200" b="1" dirty="0">
                <a:latin typeface="Arial" panose="020B0604020202020204" pitchFamily="34" charset="0"/>
              </a:rPr>
              <a:t>Chart</a:t>
            </a:r>
            <a:r>
              <a:rPr lang="en-US" sz="3200" dirty="0">
                <a:latin typeface="Arial" panose="020B0604020202020204" pitchFamily="34" charset="0"/>
              </a:rPr>
              <a:t>: Histogram for BMI</a:t>
            </a:r>
            <a:endParaRPr lang="en-US" sz="3200" b="1" dirty="0">
              <a:latin typeface="Arial" panose="020B0604020202020204" pitchFamily="34" charset="0"/>
            </a:endParaRPr>
          </a:p>
          <a:p>
            <a:pPr marL="457200" indent="-457200" algn="just" eaLnBrk="0" fontAlgn="base" hangingPunct="0">
              <a:lnSpc>
                <a:spcPct val="150000"/>
              </a:lnSpc>
              <a:spcBef>
                <a:spcPct val="0"/>
              </a:spcBef>
              <a:spcAft>
                <a:spcPct val="0"/>
              </a:spcAft>
              <a:buFont typeface="Arial" panose="020B0604020202020204" pitchFamily="34" charset="0"/>
              <a:buChar char="•"/>
            </a:pPr>
            <a:r>
              <a:rPr lang="en-US" sz="3200" b="1" dirty="0">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The majority of the population has a BMI between 20 and 40, with a sharp decline after 40.</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High BMI is linked to increased health risks, making it essential to focus on individuals with a BMI greater than 40 for targeted interventions.</a:t>
            </a:r>
          </a:p>
        </p:txBody>
      </p:sp>
    </p:spTree>
    <p:extLst>
      <p:ext uri="{BB962C8B-B14F-4D97-AF65-F5344CB8AC3E}">
        <p14:creationId xmlns:p14="http://schemas.microsoft.com/office/powerpoint/2010/main" val="2716786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8534400" y="1333500"/>
            <a:ext cx="8901459" cy="7543800"/>
          </a:xfrm>
          <a:prstGeom prst="rect">
            <a:avLst/>
          </a:prstGeom>
        </p:spPr>
      </p:pic>
      <p:sp>
        <p:nvSpPr>
          <p:cNvPr id="3" name="Rectangle 1"/>
          <p:cNvSpPr>
            <a:spLocks noChangeArrowheads="1"/>
          </p:cNvSpPr>
          <p:nvPr/>
        </p:nvSpPr>
        <p:spPr bwMode="auto">
          <a:xfrm>
            <a:off x="990600" y="1735246"/>
            <a:ext cx="800100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eaLnBrk="0" fontAlgn="base" hangingPunct="0">
              <a:lnSpc>
                <a:spcPct val="150000"/>
              </a:lnSpc>
              <a:spcBef>
                <a:spcPct val="0"/>
              </a:spcBef>
              <a:spcAft>
                <a:spcPct val="0"/>
              </a:spcAft>
              <a:buFont typeface="Arial" panose="020B0604020202020204" pitchFamily="34" charset="0"/>
              <a:buChar char="•"/>
            </a:pPr>
            <a:r>
              <a:rPr lang="en-US" sz="3200" b="1" dirty="0">
                <a:latin typeface="Arial" panose="020B0604020202020204" pitchFamily="34" charset="0"/>
              </a:rPr>
              <a:t>Chart:</a:t>
            </a:r>
            <a:r>
              <a:rPr lang="en-US" sz="3200" dirty="0">
                <a:latin typeface="Arial" panose="020B0604020202020204" pitchFamily="34" charset="0"/>
              </a:rPr>
              <a:t> Histogram of Mental Health Days</a:t>
            </a:r>
            <a:endParaRPr kumimoji="0" 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Most individuals report fewer than 5 mental health days, but there are some outliers with significantly higher values.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Mental health issues might be concentrated among a smaller subset of the population, indicating a need for focused mental health support.</a:t>
            </a:r>
          </a:p>
        </p:txBody>
      </p:sp>
    </p:spTree>
    <p:extLst>
      <p:ext uri="{BB962C8B-B14F-4D97-AF65-F5344CB8AC3E}">
        <p14:creationId xmlns:p14="http://schemas.microsoft.com/office/powerpoint/2010/main" val="354900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86800" y="1119813"/>
            <a:ext cx="8848644" cy="7971174"/>
          </a:xfrm>
          <a:prstGeom prst="rect">
            <a:avLst/>
          </a:prstGeom>
        </p:spPr>
      </p:pic>
      <p:sp>
        <p:nvSpPr>
          <p:cNvPr id="3" name="Rectangle 1"/>
          <p:cNvSpPr>
            <a:spLocks noChangeArrowheads="1"/>
          </p:cNvSpPr>
          <p:nvPr/>
        </p:nvSpPr>
        <p:spPr bwMode="auto">
          <a:xfrm>
            <a:off x="554182" y="1581900"/>
            <a:ext cx="815340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Histogram of Physical Health Days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Similar to mental health days, most</a:t>
            </a:r>
            <a:r>
              <a:rPr kumimoji="0" lang="en-US" sz="3200" b="0" i="0" u="none" strike="noStrike" cap="none" normalizeH="0" dirty="0">
                <a:ln>
                  <a:noFill/>
                </a:ln>
                <a:solidFill>
                  <a:schemeClr val="tx1"/>
                </a:solidFill>
                <a:effectLst/>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individuals report fewer than 5 days of poor physical health.</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 </a:t>
            </a:r>
            <a:r>
              <a:rPr kumimoji="0" lang="en-US" sz="3200" b="0" i="0" u="none" strike="noStrike" cap="none" normalizeH="0" baseline="0" dirty="0">
                <a:ln>
                  <a:noFill/>
                </a:ln>
                <a:solidFill>
                  <a:schemeClr val="tx1"/>
                </a:solidFill>
                <a:effectLst/>
                <a:latin typeface="Arial" panose="020B0604020202020204" pitchFamily="34" charset="0"/>
              </a:rPr>
              <a:t>Physical health declines are more pronounced in certain individuals, potentially impacting their overall heart health.</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7411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01201" y="1028700"/>
            <a:ext cx="7559494" cy="8123574"/>
          </a:xfrm>
          <a:prstGeom prst="rect">
            <a:avLst/>
          </a:prstGeom>
        </p:spPr>
      </p:pic>
      <p:sp>
        <p:nvSpPr>
          <p:cNvPr id="4" name="Rectangle 2"/>
          <p:cNvSpPr>
            <a:spLocks noChangeArrowheads="1"/>
          </p:cNvSpPr>
          <p:nvPr/>
        </p:nvSpPr>
        <p:spPr bwMode="auto">
          <a:xfrm>
            <a:off x="990600" y="2202073"/>
            <a:ext cx="8305800" cy="5806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600" b="1" i="0" u="none" strike="noStrike" cap="none" normalizeH="0" baseline="0" dirty="0">
                <a:ln>
                  <a:noFill/>
                </a:ln>
                <a:solidFill>
                  <a:schemeClr val="tx1"/>
                </a:solidFill>
                <a:effectLst/>
                <a:latin typeface="Arial" panose="020B0604020202020204" pitchFamily="34" charset="0"/>
              </a:rPr>
              <a:t>Chart:</a:t>
            </a:r>
            <a:r>
              <a:rPr kumimoji="0" lang="en-US" sz="3600" b="0" i="0" u="none" strike="noStrike" cap="none" normalizeH="0" baseline="0" dirty="0">
                <a:ln>
                  <a:noFill/>
                </a:ln>
                <a:solidFill>
                  <a:schemeClr val="tx1"/>
                </a:solidFill>
                <a:effectLst/>
                <a:latin typeface="Arial" panose="020B0604020202020204" pitchFamily="34" charset="0"/>
              </a:rPr>
              <a:t> Bar Chart for High Blood Pressure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600" b="1" i="0" u="none" strike="noStrike" cap="none" normalizeH="0" baseline="0" dirty="0">
                <a:ln>
                  <a:noFill/>
                </a:ln>
                <a:solidFill>
                  <a:schemeClr val="tx1"/>
                </a:solidFill>
                <a:effectLst/>
                <a:latin typeface="Arial" panose="020B0604020202020204" pitchFamily="34" charset="0"/>
              </a:rPr>
              <a:t>Finding:</a:t>
            </a:r>
            <a:r>
              <a:rPr lang="en-US" sz="3600" dirty="0">
                <a:latin typeface="Arial" panose="020B0604020202020204" pitchFamily="34" charset="0"/>
              </a:rPr>
              <a:t> </a:t>
            </a:r>
            <a:r>
              <a:rPr kumimoji="0" lang="en-US" sz="3600" b="0" i="0" u="none" strike="noStrike" cap="none" normalizeH="0" baseline="0" dirty="0">
                <a:ln>
                  <a:noFill/>
                </a:ln>
                <a:solidFill>
                  <a:schemeClr val="tx1"/>
                </a:solidFill>
                <a:effectLst/>
                <a:latin typeface="Arial" panose="020B0604020202020204" pitchFamily="34" charset="0"/>
              </a:rPr>
              <a:t>Approximately 50% of the population has high blood pressure.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600" b="1" i="0" u="none" strike="noStrike" cap="none" normalizeH="0" baseline="0" dirty="0">
                <a:ln>
                  <a:noFill/>
                </a:ln>
                <a:solidFill>
                  <a:schemeClr val="tx1"/>
                </a:solidFill>
                <a:effectLst/>
                <a:latin typeface="Arial" panose="020B0604020202020204" pitchFamily="34" charset="0"/>
              </a:rPr>
              <a:t>Key Insight:</a:t>
            </a:r>
            <a:r>
              <a:rPr lang="en-US" sz="3600" dirty="0">
                <a:latin typeface="Arial" panose="020B0604020202020204" pitchFamily="34" charset="0"/>
              </a:rPr>
              <a:t> </a:t>
            </a:r>
            <a:r>
              <a:rPr kumimoji="0" lang="en-US" sz="3600" b="0" i="0" u="none" strike="noStrike" cap="none" normalizeH="0" baseline="0" dirty="0">
                <a:ln>
                  <a:noFill/>
                </a:ln>
                <a:solidFill>
                  <a:schemeClr val="tx1"/>
                </a:solidFill>
                <a:effectLst/>
                <a:latin typeface="Arial" panose="020B0604020202020204" pitchFamily="34" charset="0"/>
              </a:rPr>
              <a:t>High blood pressure is a significant factor in the dataset, with a clear link to heart disease risk.</a:t>
            </a:r>
          </a:p>
        </p:txBody>
      </p:sp>
    </p:spTree>
    <p:extLst>
      <p:ext uri="{BB962C8B-B14F-4D97-AF65-F5344CB8AC3E}">
        <p14:creationId xmlns:p14="http://schemas.microsoft.com/office/powerpoint/2010/main" val="3880100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91800" y="1902549"/>
            <a:ext cx="6514303" cy="6090356"/>
          </a:xfrm>
          <a:prstGeom prst="rect">
            <a:avLst/>
          </a:prstGeom>
        </p:spPr>
      </p:pic>
      <p:sp>
        <p:nvSpPr>
          <p:cNvPr id="3" name="Rectangle 1"/>
          <p:cNvSpPr>
            <a:spLocks noChangeArrowheads="1"/>
          </p:cNvSpPr>
          <p:nvPr/>
        </p:nvSpPr>
        <p:spPr bwMode="auto">
          <a:xfrm>
            <a:off x="1164764" y="2150745"/>
            <a:ext cx="868679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sz="3600" b="1" i="0" u="none" strike="noStrike" cap="none" normalizeH="0" baseline="0" dirty="0">
                <a:ln>
                  <a:noFill/>
                </a:ln>
                <a:solidFill>
                  <a:schemeClr val="tx1"/>
                </a:solidFill>
                <a:effectLst/>
                <a:latin typeface="Arial" panose="020B0604020202020204" pitchFamily="34" charset="0"/>
              </a:rPr>
              <a:t>Chart:</a:t>
            </a:r>
            <a:r>
              <a:rPr kumimoji="0" lang="en-US" sz="3600" b="0" i="0" u="none" strike="noStrike" cap="none" normalizeH="0" baseline="0" dirty="0">
                <a:ln>
                  <a:noFill/>
                </a:ln>
                <a:solidFill>
                  <a:schemeClr val="tx1"/>
                </a:solidFill>
                <a:effectLst/>
                <a:latin typeface="Arial" panose="020B0604020202020204" pitchFamily="34" charset="0"/>
              </a:rPr>
              <a:t> Pie Chart of High Cholesterol</a:t>
            </a:r>
          </a:p>
          <a:p>
            <a:pPr marL="0" marR="0" lvl="0" indent="0" algn="just" defTabSz="914400" rtl="0" eaLnBrk="0" fontAlgn="base" latinLnBrk="0" hangingPunct="0">
              <a:lnSpc>
                <a:spcPct val="150000"/>
              </a:lnSpc>
              <a:spcBef>
                <a:spcPct val="0"/>
              </a:spcBef>
              <a:spcAft>
                <a:spcPct val="0"/>
              </a:spcAft>
              <a:buClrTx/>
              <a:buSzTx/>
              <a:tabLst/>
            </a:pPr>
            <a:r>
              <a:rPr kumimoji="0" lang="en-US" sz="3600" b="1" i="0" u="none" strike="noStrike" cap="none" normalizeH="0" baseline="0" dirty="0">
                <a:ln>
                  <a:noFill/>
                </a:ln>
                <a:solidFill>
                  <a:schemeClr val="tx1"/>
                </a:solidFill>
                <a:effectLst/>
                <a:latin typeface="Arial" panose="020B0604020202020204" pitchFamily="34" charset="0"/>
              </a:rPr>
              <a:t>Finding:</a:t>
            </a:r>
            <a:r>
              <a:rPr lang="en-US" sz="3600" dirty="0">
                <a:latin typeface="Arial" panose="020B0604020202020204" pitchFamily="34" charset="0"/>
              </a:rPr>
              <a:t> </a:t>
            </a:r>
            <a:r>
              <a:rPr kumimoji="0" lang="en-US" sz="3600" b="0" i="0" u="none" strike="noStrike" cap="none" normalizeH="0" baseline="0" dirty="0">
                <a:ln>
                  <a:noFill/>
                </a:ln>
                <a:solidFill>
                  <a:schemeClr val="tx1"/>
                </a:solidFill>
                <a:effectLst/>
                <a:latin typeface="Arial" panose="020B0604020202020204" pitchFamily="34" charset="0"/>
              </a:rPr>
              <a:t>42.4% of individuals have high cholesterol.</a:t>
            </a:r>
          </a:p>
          <a:p>
            <a:pPr marL="0" marR="0" lvl="0" indent="0" algn="just" defTabSz="914400" rtl="0" eaLnBrk="0" fontAlgn="base" latinLnBrk="0" hangingPunct="0">
              <a:lnSpc>
                <a:spcPct val="150000"/>
              </a:lnSpc>
              <a:spcBef>
                <a:spcPct val="0"/>
              </a:spcBef>
              <a:spcAft>
                <a:spcPct val="0"/>
              </a:spcAft>
              <a:buClrTx/>
              <a:buSzTx/>
              <a:tabLst/>
            </a:pPr>
            <a:r>
              <a:rPr kumimoji="0" lang="en-US" sz="3600" b="1" i="0" u="none" strike="noStrike" cap="none" normalizeH="0" baseline="0" dirty="0">
                <a:ln>
                  <a:noFill/>
                </a:ln>
                <a:solidFill>
                  <a:schemeClr val="tx1"/>
                </a:solidFill>
                <a:effectLst/>
                <a:latin typeface="Arial" panose="020B0604020202020204" pitchFamily="34" charset="0"/>
              </a:rPr>
              <a:t>Key Insight:</a:t>
            </a:r>
            <a:endParaRPr kumimoji="0" 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sz="3600" b="0" i="0" u="none" strike="noStrike" cap="none" normalizeH="0" baseline="0" dirty="0">
                <a:ln>
                  <a:noFill/>
                </a:ln>
                <a:solidFill>
                  <a:schemeClr val="tx1"/>
                </a:solidFill>
                <a:effectLst/>
                <a:latin typeface="Arial" panose="020B0604020202020204" pitchFamily="34" charset="0"/>
              </a:rPr>
              <a:t>A significant portion of the population is at risk for heart-related issues, emphasizing the need for cholesterol management.</a:t>
            </a:r>
          </a:p>
        </p:txBody>
      </p:sp>
    </p:spTree>
    <p:extLst>
      <p:ext uri="{BB962C8B-B14F-4D97-AF65-F5344CB8AC3E}">
        <p14:creationId xmlns:p14="http://schemas.microsoft.com/office/powerpoint/2010/main" val="406393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77400" y="1333500"/>
            <a:ext cx="7962900" cy="7696200"/>
          </a:xfrm>
          <a:prstGeom prst="rect">
            <a:avLst/>
          </a:prstGeom>
        </p:spPr>
      </p:pic>
      <p:sp>
        <p:nvSpPr>
          <p:cNvPr id="3" name="Rectangle 1"/>
          <p:cNvSpPr>
            <a:spLocks noChangeArrowheads="1"/>
          </p:cNvSpPr>
          <p:nvPr/>
        </p:nvSpPr>
        <p:spPr bwMode="auto">
          <a:xfrm>
            <a:off x="1126663" y="2519531"/>
            <a:ext cx="7848600" cy="517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Bar Chart for Cholesterol Checks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The majority of the population has undergone a cholesterol check.</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Regular cholesterol monitoring is crucial for early detection and prevention of heart disease.</a:t>
            </a:r>
          </a:p>
        </p:txBody>
      </p:sp>
    </p:spTree>
    <p:extLst>
      <p:ext uri="{BB962C8B-B14F-4D97-AF65-F5344CB8AC3E}">
        <p14:creationId xmlns:p14="http://schemas.microsoft.com/office/powerpoint/2010/main" val="906869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51264" y="1547812"/>
            <a:ext cx="7239000" cy="7115175"/>
          </a:xfrm>
          <a:prstGeom prst="rect">
            <a:avLst/>
          </a:prstGeom>
        </p:spPr>
      </p:pic>
      <p:sp>
        <p:nvSpPr>
          <p:cNvPr id="4" name="Rectangle 2"/>
          <p:cNvSpPr>
            <a:spLocks noChangeArrowheads="1"/>
          </p:cNvSpPr>
          <p:nvPr/>
        </p:nvSpPr>
        <p:spPr bwMode="auto">
          <a:xfrm>
            <a:off x="1644595" y="2019300"/>
            <a:ext cx="7086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Bar Chart for Heart Disease Distribution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kumimoji="0" lang="en-US" sz="3200" b="0" i="0" u="none" strike="noStrike" cap="none" normalizeH="0" baseline="0" dirty="0">
                <a:ln>
                  <a:noFill/>
                </a:ln>
                <a:solidFill>
                  <a:schemeClr val="tx1"/>
                </a:solidFill>
                <a:effectLst/>
                <a:latin typeface="Arial" panose="020B0604020202020204" pitchFamily="34" charset="0"/>
              </a:rPr>
              <a:t> Most individuals do not have heart disease, with only a small proportion affected.</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kumimoji="0" lang="en-US" sz="3200" b="0" i="0" u="none" strike="noStrike" cap="none" normalizeH="0" baseline="0" dirty="0">
                <a:ln>
                  <a:noFill/>
                </a:ln>
                <a:solidFill>
                  <a:schemeClr val="tx1"/>
                </a:solidFill>
                <a:effectLst/>
                <a:latin typeface="Arial" panose="020B0604020202020204" pitchFamily="34" charset="0"/>
              </a:rPr>
              <a:t> Heart disease is less common but remains a critical health concern. </a:t>
            </a:r>
          </a:p>
        </p:txBody>
      </p:sp>
    </p:spTree>
    <p:extLst>
      <p:ext uri="{BB962C8B-B14F-4D97-AF65-F5344CB8AC3E}">
        <p14:creationId xmlns:p14="http://schemas.microsoft.com/office/powerpoint/2010/main" val="222841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277600" y="1756079"/>
            <a:ext cx="6014664" cy="6698642"/>
          </a:xfrm>
          <a:prstGeom prst="rect">
            <a:avLst/>
          </a:prstGeom>
        </p:spPr>
      </p:pic>
      <p:sp>
        <p:nvSpPr>
          <p:cNvPr id="10" name="Rectangle 1"/>
          <p:cNvSpPr>
            <a:spLocks noChangeArrowheads="1"/>
          </p:cNvSpPr>
          <p:nvPr/>
        </p:nvSpPr>
        <p:spPr bwMode="auto">
          <a:xfrm>
            <a:off x="1774363" y="2019300"/>
            <a:ext cx="81534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Pie Chart of Heart Disease Distribution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10</a:t>
            </a:r>
            <a:r>
              <a:rPr kumimoji="0" lang="en-US" sz="3200" b="0" i="0" u="none" strike="noStrike" cap="none" normalizeH="0" baseline="0" dirty="0">
                <a:ln>
                  <a:noFill/>
                </a:ln>
                <a:solidFill>
                  <a:schemeClr val="tx1"/>
                </a:solidFill>
                <a:effectLst/>
                <a:latin typeface="Arial" panose="020B0604020202020204" pitchFamily="34" charset="0"/>
              </a:rPr>
              <a:t>.3% of the population has signs of heart disease.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A notable portion of the population is affected by heart disease, highlighting the need for improved public health strategies.</a:t>
            </a:r>
          </a:p>
        </p:txBody>
      </p:sp>
    </p:spTree>
    <p:extLst>
      <p:ext uri="{BB962C8B-B14F-4D97-AF65-F5344CB8AC3E}">
        <p14:creationId xmlns:p14="http://schemas.microsoft.com/office/powerpoint/2010/main" val="217209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627514" y="1649304"/>
            <a:ext cx="13997940" cy="1320800"/>
          </a:xfrm>
          <a:custGeom>
            <a:avLst/>
            <a:gdLst/>
            <a:ahLst/>
            <a:cxnLst/>
            <a:rect l="l" t="t" r="r" b="b"/>
            <a:pathLst>
              <a:path w="13997940" h="1320800">
                <a:moveTo>
                  <a:pt x="13667282" y="1320800"/>
                </a:moveTo>
                <a:lnTo>
                  <a:pt x="330199" y="1320800"/>
                </a:lnTo>
                <a:lnTo>
                  <a:pt x="281405" y="1317219"/>
                </a:lnTo>
                <a:lnTo>
                  <a:pt x="234833" y="1306819"/>
                </a:lnTo>
                <a:lnTo>
                  <a:pt x="190996" y="1290110"/>
                </a:lnTo>
                <a:lnTo>
                  <a:pt x="150402" y="1267602"/>
                </a:lnTo>
                <a:lnTo>
                  <a:pt x="113564" y="1239807"/>
                </a:lnTo>
                <a:lnTo>
                  <a:pt x="80992" y="1207235"/>
                </a:lnTo>
                <a:lnTo>
                  <a:pt x="53197" y="1170397"/>
                </a:lnTo>
                <a:lnTo>
                  <a:pt x="30689" y="1129804"/>
                </a:lnTo>
                <a:lnTo>
                  <a:pt x="13980" y="1085966"/>
                </a:lnTo>
                <a:lnTo>
                  <a:pt x="3580" y="1039394"/>
                </a:lnTo>
                <a:lnTo>
                  <a:pt x="0" y="990600"/>
                </a:lnTo>
                <a:lnTo>
                  <a:pt x="0" y="330200"/>
                </a:lnTo>
                <a:lnTo>
                  <a:pt x="3580" y="281405"/>
                </a:lnTo>
                <a:lnTo>
                  <a:pt x="13980" y="234833"/>
                </a:lnTo>
                <a:lnTo>
                  <a:pt x="30689" y="190996"/>
                </a:lnTo>
                <a:lnTo>
                  <a:pt x="53197" y="150402"/>
                </a:lnTo>
                <a:lnTo>
                  <a:pt x="80992" y="113564"/>
                </a:lnTo>
                <a:lnTo>
                  <a:pt x="113564" y="80992"/>
                </a:lnTo>
                <a:lnTo>
                  <a:pt x="150402" y="53197"/>
                </a:lnTo>
                <a:lnTo>
                  <a:pt x="190996" y="30689"/>
                </a:lnTo>
                <a:lnTo>
                  <a:pt x="234833" y="13980"/>
                </a:lnTo>
                <a:lnTo>
                  <a:pt x="281405" y="3580"/>
                </a:lnTo>
                <a:lnTo>
                  <a:pt x="330199" y="0"/>
                </a:lnTo>
                <a:lnTo>
                  <a:pt x="13667282" y="0"/>
                </a:lnTo>
                <a:lnTo>
                  <a:pt x="13719249" y="4113"/>
                </a:lnTo>
                <a:lnTo>
                  <a:pt x="13769468" y="16208"/>
                </a:lnTo>
                <a:lnTo>
                  <a:pt x="13817052" y="35918"/>
                </a:lnTo>
                <a:lnTo>
                  <a:pt x="13861115" y="62876"/>
                </a:lnTo>
                <a:lnTo>
                  <a:pt x="13900769" y="96713"/>
                </a:lnTo>
                <a:lnTo>
                  <a:pt x="13934606" y="136367"/>
                </a:lnTo>
                <a:lnTo>
                  <a:pt x="13961563" y="180430"/>
                </a:lnTo>
                <a:lnTo>
                  <a:pt x="13981273" y="228014"/>
                </a:lnTo>
                <a:lnTo>
                  <a:pt x="13993368" y="278233"/>
                </a:lnTo>
                <a:lnTo>
                  <a:pt x="13997482" y="330200"/>
                </a:lnTo>
                <a:lnTo>
                  <a:pt x="13997482" y="990600"/>
                </a:lnTo>
                <a:lnTo>
                  <a:pt x="13993368" y="1042566"/>
                </a:lnTo>
                <a:lnTo>
                  <a:pt x="13981273" y="1092785"/>
                </a:lnTo>
                <a:lnTo>
                  <a:pt x="13961563" y="1140369"/>
                </a:lnTo>
                <a:lnTo>
                  <a:pt x="13934606" y="1184432"/>
                </a:lnTo>
                <a:lnTo>
                  <a:pt x="13900769" y="1224086"/>
                </a:lnTo>
                <a:lnTo>
                  <a:pt x="13861115" y="1257923"/>
                </a:lnTo>
                <a:lnTo>
                  <a:pt x="13817052" y="1284881"/>
                </a:lnTo>
                <a:lnTo>
                  <a:pt x="13769468" y="1304591"/>
                </a:lnTo>
                <a:lnTo>
                  <a:pt x="13719249" y="1316686"/>
                </a:lnTo>
                <a:lnTo>
                  <a:pt x="13667282" y="1320800"/>
                </a:lnTo>
                <a:close/>
              </a:path>
            </a:pathLst>
          </a:custGeom>
          <a:solidFill>
            <a:srgbClr val="B0DDDE"/>
          </a:solidFill>
        </p:spPr>
        <p:txBody>
          <a:bodyPr wrap="square" lIns="0" tIns="0" rIns="0" bIns="0" rtlCol="0"/>
          <a:lstStyle/>
          <a:p>
            <a:endParaRPr/>
          </a:p>
        </p:txBody>
      </p:sp>
      <p:sp>
        <p:nvSpPr>
          <p:cNvPr id="8" name="object 8"/>
          <p:cNvSpPr txBox="1">
            <a:spLocks noGrp="1"/>
          </p:cNvSpPr>
          <p:nvPr>
            <p:ph type="title"/>
          </p:nvPr>
        </p:nvSpPr>
        <p:spPr>
          <a:xfrm>
            <a:off x="1945014" y="1766842"/>
            <a:ext cx="13154025" cy="1016000"/>
          </a:xfrm>
          <a:prstGeom prst="rect">
            <a:avLst/>
          </a:prstGeom>
        </p:spPr>
        <p:txBody>
          <a:bodyPr vert="horz" wrap="square" lIns="0" tIns="12700" rIns="0" bIns="0" rtlCol="0">
            <a:spAutoFit/>
          </a:bodyPr>
          <a:lstStyle/>
          <a:p>
            <a:pPr marL="12700" algn="ctr">
              <a:lnSpc>
                <a:spcPct val="100000"/>
              </a:lnSpc>
              <a:spcBef>
                <a:spcPts val="100"/>
              </a:spcBef>
            </a:pPr>
            <a:r>
              <a:rPr lang="en-US" sz="6500" dirty="0"/>
              <a:t>BIVARIATE ANALYSIS</a:t>
            </a:r>
            <a:endParaRPr sz="6500" dirty="0"/>
          </a:p>
        </p:txBody>
      </p:sp>
      <p:sp>
        <p:nvSpPr>
          <p:cNvPr id="15" name="Rectangle 1"/>
          <p:cNvSpPr>
            <a:spLocks noChangeArrowheads="1"/>
          </p:cNvSpPr>
          <p:nvPr/>
        </p:nvSpPr>
        <p:spPr bwMode="auto">
          <a:xfrm>
            <a:off x="1588310" y="3001527"/>
            <a:ext cx="13872854"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Definition:</a:t>
            </a:r>
            <a:r>
              <a:rPr kumimoji="0" lang="en-US" sz="2800" b="0" i="0" u="none" strike="noStrike" cap="none" normalizeH="0" baseline="0" dirty="0">
                <a:ln>
                  <a:noFill/>
                </a:ln>
                <a:solidFill>
                  <a:schemeClr val="tx1"/>
                </a:solidFill>
                <a:effectLst/>
                <a:latin typeface="Arial" panose="020B0604020202020204" pitchFamily="34" charset="0"/>
              </a:rPr>
              <a:t> Bivariate analysis examines the relationship between two variables, allowing you to explore correlations or associations between them.</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Use:</a:t>
            </a:r>
            <a:r>
              <a:rPr kumimoji="0" lang="en-US" sz="2800" b="0" i="0" u="none" strike="noStrike" cap="none" normalizeH="0" baseline="0" dirty="0">
                <a:ln>
                  <a:noFill/>
                </a:ln>
                <a:solidFill>
                  <a:schemeClr val="tx1"/>
                </a:solidFill>
                <a:effectLst/>
                <a:latin typeface="Arial" panose="020B0604020202020204" pitchFamily="34" charset="0"/>
              </a:rPr>
              <a:t> Bivariate analysis is used to determine how one variable is affected by another. It’s often visualized through scatter plots, bar charts, or correlation matrices. This type of analysis is helpful for identifying relationships and dependencies.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800" b="1" i="0" u="none" strike="noStrike" cap="none" normalizeH="0" baseline="0" dirty="0">
                <a:ln>
                  <a:noFill/>
                </a:ln>
                <a:solidFill>
                  <a:schemeClr val="tx1"/>
                </a:solidFill>
                <a:effectLst/>
                <a:latin typeface="Arial" panose="020B0604020202020204" pitchFamily="34" charset="0"/>
              </a:rPr>
              <a:t>Example:</a:t>
            </a:r>
            <a:r>
              <a:rPr kumimoji="0" lang="en-US" sz="2800" b="0" i="0" u="none" strike="noStrike" cap="none" normalizeH="0" baseline="0" dirty="0">
                <a:ln>
                  <a:noFill/>
                </a:ln>
                <a:solidFill>
                  <a:schemeClr val="tx1"/>
                </a:solidFill>
                <a:effectLst/>
                <a:latin typeface="Arial" panose="020B0604020202020204" pitchFamily="34" charset="0"/>
              </a:rPr>
              <a:t> In the same heart disease dataset, a bivariate analysis might involve comparing BMI and heart disease occurrence (e.g., using a bar chart or correlation matrix to see if high BMI is associated with higher heart disease risk).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25000" y="1257300"/>
            <a:ext cx="7820025" cy="7894973"/>
          </a:xfrm>
          <a:prstGeom prst="rect">
            <a:avLst/>
          </a:prstGeom>
        </p:spPr>
      </p:pic>
      <p:sp>
        <p:nvSpPr>
          <p:cNvPr id="3" name="Rectangle 2"/>
          <p:cNvSpPr/>
          <p:nvPr/>
        </p:nvSpPr>
        <p:spPr>
          <a:xfrm>
            <a:off x="1219200" y="2242116"/>
            <a:ext cx="7753497" cy="592534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3200" b="1" dirty="0"/>
              <a:t>Chart:</a:t>
            </a:r>
            <a:r>
              <a:rPr lang="en-US" sz="3200" dirty="0"/>
              <a:t> Bar Chart for High Blood Pressure </a:t>
            </a:r>
            <a:r>
              <a:rPr lang="en-US" sz="3200" dirty="0" err="1"/>
              <a:t>vs</a:t>
            </a:r>
            <a:r>
              <a:rPr lang="en-US" sz="3200" dirty="0"/>
              <a:t> Heart Disease</a:t>
            </a:r>
          </a:p>
          <a:p>
            <a:pPr marL="457200" indent="-457200" algn="just">
              <a:lnSpc>
                <a:spcPct val="150000"/>
              </a:lnSpc>
              <a:buFont typeface="Arial" panose="020B0604020202020204" pitchFamily="34" charset="0"/>
              <a:buChar char="•"/>
            </a:pPr>
            <a:r>
              <a:rPr lang="en-US" sz="3200" b="1" dirty="0"/>
              <a:t>Finding:</a:t>
            </a:r>
            <a:r>
              <a:rPr lang="en-US" sz="3200" dirty="0"/>
              <a:t> Individuals with high blood pressure are more likely to have heart disease.</a:t>
            </a:r>
          </a:p>
          <a:p>
            <a:pPr marL="457200" indent="-457200" algn="just">
              <a:lnSpc>
                <a:spcPct val="150000"/>
              </a:lnSpc>
              <a:buFont typeface="Arial" panose="020B0604020202020204" pitchFamily="34" charset="0"/>
              <a:buChar char="•"/>
            </a:pPr>
            <a:r>
              <a:rPr lang="en-US" sz="3200" b="1" dirty="0"/>
              <a:t>Key Insight:</a:t>
            </a:r>
            <a:r>
              <a:rPr lang="en-US" sz="3200" dirty="0"/>
              <a:t> There is a strong relationship between high blood pressure and the risk of developing heart disease.</a:t>
            </a:r>
          </a:p>
        </p:txBody>
      </p:sp>
    </p:spTree>
    <p:extLst>
      <p:ext uri="{BB962C8B-B14F-4D97-AF65-F5344CB8AC3E}">
        <p14:creationId xmlns:p14="http://schemas.microsoft.com/office/powerpoint/2010/main" val="2926993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77400" y="1181100"/>
            <a:ext cx="7934325" cy="8077200"/>
          </a:xfrm>
          <a:prstGeom prst="rect">
            <a:avLst/>
          </a:prstGeom>
        </p:spPr>
      </p:pic>
      <p:sp>
        <p:nvSpPr>
          <p:cNvPr id="3" name="Rectangle 1"/>
          <p:cNvSpPr>
            <a:spLocks noChangeArrowheads="1"/>
          </p:cNvSpPr>
          <p:nvPr/>
        </p:nvSpPr>
        <p:spPr bwMode="auto">
          <a:xfrm>
            <a:off x="1200866" y="1849546"/>
            <a:ext cx="815340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Boxplot for BMI Distribution by Heart Disease Status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Those with heart disease tend to have a higher BMI compared to those without.</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Higher BMI is a significant risk factor for heart disease, with a clear correlation between increased BMI and the likelihood of heart disease.</a:t>
            </a:r>
          </a:p>
        </p:txBody>
      </p:sp>
    </p:spTree>
    <p:extLst>
      <p:ext uri="{BB962C8B-B14F-4D97-AF65-F5344CB8AC3E}">
        <p14:creationId xmlns:p14="http://schemas.microsoft.com/office/powerpoint/2010/main" val="875615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01200" y="1028700"/>
            <a:ext cx="7839075" cy="8305800"/>
          </a:xfrm>
          <a:prstGeom prst="rect">
            <a:avLst/>
          </a:prstGeom>
        </p:spPr>
      </p:pic>
      <p:sp>
        <p:nvSpPr>
          <p:cNvPr id="3" name="Rectangle 1"/>
          <p:cNvSpPr>
            <a:spLocks noChangeArrowheads="1"/>
          </p:cNvSpPr>
          <p:nvPr/>
        </p:nvSpPr>
        <p:spPr bwMode="auto">
          <a:xfrm>
            <a:off x="838200" y="1735246"/>
            <a:ext cx="8601747"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Correlation Matrix of Continuous Variables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Moderate correlation between physical health and heart disease, while age and BMI show weaker correlations.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lang="en-US" sz="3200" dirty="0">
                <a:latin typeface="Arial" panose="020B0604020202020204" pitchFamily="34" charset="0"/>
              </a:rPr>
              <a:t> </a:t>
            </a:r>
            <a:r>
              <a:rPr kumimoji="0" lang="en-US" sz="3200" b="0" i="0" u="none" strike="noStrike" cap="none" normalizeH="0" baseline="0" dirty="0">
                <a:ln>
                  <a:noFill/>
                </a:ln>
                <a:solidFill>
                  <a:schemeClr val="tx1"/>
                </a:solidFill>
                <a:effectLst/>
                <a:latin typeface="Arial" panose="020B0604020202020204" pitchFamily="34" charset="0"/>
              </a:rPr>
              <a:t>Some variables are moderately related to heart disease; however, age and BMI still warrant consideration in further analyses.</a:t>
            </a:r>
          </a:p>
        </p:txBody>
      </p:sp>
    </p:spTree>
    <p:extLst>
      <p:ext uri="{BB962C8B-B14F-4D97-AF65-F5344CB8AC3E}">
        <p14:creationId xmlns:p14="http://schemas.microsoft.com/office/powerpoint/2010/main" val="4144477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01200" y="2319337"/>
            <a:ext cx="7743825" cy="5572125"/>
          </a:xfrm>
          <a:prstGeom prst="rect">
            <a:avLst/>
          </a:prstGeom>
        </p:spPr>
      </p:pic>
      <p:sp>
        <p:nvSpPr>
          <p:cNvPr id="3" name="Rectangle 1"/>
          <p:cNvSpPr>
            <a:spLocks noChangeArrowheads="1"/>
          </p:cNvSpPr>
          <p:nvPr/>
        </p:nvSpPr>
        <p:spPr bwMode="auto">
          <a:xfrm>
            <a:off x="1127817" y="2104577"/>
            <a:ext cx="792108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Bar Chart for Heart Disease by Gender</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kumimoji="0" lang="en-US" sz="3200" b="0" i="0" u="none" strike="noStrike" cap="none" normalizeH="0" baseline="0" dirty="0">
                <a:ln>
                  <a:noFill/>
                </a:ln>
                <a:solidFill>
                  <a:schemeClr val="tx1"/>
                </a:solidFill>
                <a:effectLst/>
                <a:latin typeface="Arial" panose="020B0604020202020204" pitchFamily="34" charset="0"/>
              </a:rPr>
              <a:t> Heart disease is less common in both genders, but one gender shows a higher prevalence.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kumimoji="0" lang="en-US" sz="3200" b="0" i="0" u="none" strike="noStrike" cap="none" normalizeH="0" baseline="0" dirty="0">
                <a:ln>
                  <a:noFill/>
                </a:ln>
                <a:solidFill>
                  <a:schemeClr val="tx1"/>
                </a:solidFill>
                <a:effectLst/>
                <a:latin typeface="Arial" panose="020B0604020202020204" pitchFamily="34" charset="0"/>
              </a:rPr>
              <a:t> Gender-specific health interventions may be needed to address differences in heart disease risk. </a:t>
            </a:r>
          </a:p>
        </p:txBody>
      </p:sp>
    </p:spTree>
    <p:extLst>
      <p:ext uri="{BB962C8B-B14F-4D97-AF65-F5344CB8AC3E}">
        <p14:creationId xmlns:p14="http://schemas.microsoft.com/office/powerpoint/2010/main" val="3073824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68000" y="3086100"/>
            <a:ext cx="6206735" cy="3521372"/>
          </a:xfrm>
          <a:prstGeom prst="rect">
            <a:avLst/>
          </a:prstGeom>
        </p:spPr>
      </p:pic>
      <p:sp>
        <p:nvSpPr>
          <p:cNvPr id="3" name="Rectangle 1"/>
          <p:cNvSpPr>
            <a:spLocks noChangeArrowheads="1"/>
          </p:cNvSpPr>
          <p:nvPr/>
        </p:nvSpPr>
        <p:spPr bwMode="auto">
          <a:xfrm>
            <a:off x="1359812" y="1845964"/>
            <a:ext cx="83820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Pivot Table</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kumimoji="0" lang="en-US" sz="3200" b="0" i="0" u="none" strike="noStrike" cap="none" normalizeH="0" baseline="0" dirty="0">
                <a:ln>
                  <a:noFill/>
                </a:ln>
                <a:solidFill>
                  <a:schemeClr val="tx1"/>
                </a:solidFill>
                <a:effectLst/>
                <a:latin typeface="Arial" panose="020B0604020202020204" pitchFamily="34" charset="0"/>
              </a:rPr>
              <a:t> Higher education levels have more individuals, but heart disease cases don't necessarily increase proportionally.</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kumimoji="0" lang="en-US" sz="3200" b="0" i="0" u="none" strike="noStrike" cap="none" normalizeH="0" baseline="0" dirty="0">
                <a:ln>
                  <a:noFill/>
                </a:ln>
                <a:solidFill>
                  <a:schemeClr val="tx1"/>
                </a:solidFill>
                <a:effectLst/>
                <a:latin typeface="Arial" panose="020B0604020202020204" pitchFamily="34" charset="0"/>
              </a:rPr>
              <a:t> The dataset has more people with higher education, but heart disease prevalence doesn’t rise sharply with education. </a:t>
            </a:r>
          </a:p>
        </p:txBody>
      </p:sp>
    </p:spTree>
    <p:extLst>
      <p:ext uri="{BB962C8B-B14F-4D97-AF65-F5344CB8AC3E}">
        <p14:creationId xmlns:p14="http://schemas.microsoft.com/office/powerpoint/2010/main" val="28024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01200" y="2212367"/>
            <a:ext cx="7734300" cy="5743575"/>
          </a:xfrm>
          <a:prstGeom prst="rect">
            <a:avLst/>
          </a:prstGeom>
        </p:spPr>
      </p:pic>
      <p:sp>
        <p:nvSpPr>
          <p:cNvPr id="3" name="Rectangle 1"/>
          <p:cNvSpPr>
            <a:spLocks noChangeArrowheads="1"/>
          </p:cNvSpPr>
          <p:nvPr/>
        </p:nvSpPr>
        <p:spPr bwMode="auto">
          <a:xfrm>
            <a:off x="783763" y="2295680"/>
            <a:ext cx="8458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Chart:</a:t>
            </a:r>
            <a:r>
              <a:rPr kumimoji="0" lang="en-US" sz="3200" b="0" i="0" u="none" strike="noStrike" cap="none" normalizeH="0" baseline="0" dirty="0">
                <a:ln>
                  <a:noFill/>
                </a:ln>
                <a:solidFill>
                  <a:schemeClr val="tx1"/>
                </a:solidFill>
                <a:effectLst/>
                <a:latin typeface="Arial" panose="020B0604020202020204" pitchFamily="34" charset="0"/>
              </a:rPr>
              <a:t> Bar Chart</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Finding:</a:t>
            </a:r>
            <a:r>
              <a:rPr kumimoji="0" lang="en-US" sz="3200" b="0" i="0" u="none" strike="noStrike" cap="none" normalizeH="0" baseline="0" dirty="0">
                <a:ln>
                  <a:noFill/>
                </a:ln>
                <a:solidFill>
                  <a:schemeClr val="tx1"/>
                </a:solidFill>
                <a:effectLst/>
                <a:latin typeface="Arial" panose="020B0604020202020204" pitchFamily="34" charset="0"/>
              </a:rPr>
              <a:t> Heart disease remains low across all education levels, with a slight increase at higher levels.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3200" b="1" i="0" u="none" strike="noStrike" cap="none" normalizeH="0" baseline="0" dirty="0">
                <a:ln>
                  <a:noFill/>
                </a:ln>
                <a:solidFill>
                  <a:schemeClr val="tx1"/>
                </a:solidFill>
                <a:effectLst/>
                <a:latin typeface="Arial" panose="020B0604020202020204" pitchFamily="34" charset="0"/>
              </a:rPr>
              <a:t>Key Insight:</a:t>
            </a:r>
            <a:r>
              <a:rPr kumimoji="0" lang="en-US" sz="3200" b="0" i="0" u="none" strike="noStrike" cap="none" normalizeH="0" baseline="0" dirty="0">
                <a:ln>
                  <a:noFill/>
                </a:ln>
                <a:solidFill>
                  <a:schemeClr val="tx1"/>
                </a:solidFill>
                <a:effectLst/>
                <a:latin typeface="Arial" panose="020B0604020202020204" pitchFamily="34" charset="0"/>
              </a:rPr>
              <a:t> Higher education shows a small increase in heart disease, suggesting other factors may play a bigger role. </a:t>
            </a:r>
          </a:p>
        </p:txBody>
      </p:sp>
    </p:spTree>
    <p:extLst>
      <p:ext uri="{BB962C8B-B14F-4D97-AF65-F5344CB8AC3E}">
        <p14:creationId xmlns:p14="http://schemas.microsoft.com/office/powerpoint/2010/main" val="1009842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857500" y="2927509"/>
            <a:ext cx="12573000" cy="2215991"/>
          </a:xfrm>
          <a:prstGeom prst="rect">
            <a:avLst/>
          </a:prstGeom>
          <a:noFill/>
        </p:spPr>
        <p:txBody>
          <a:bodyPr wrap="square" rtlCol="0">
            <a:spAutoFit/>
          </a:bodyPr>
          <a:lstStyle/>
          <a:p>
            <a:pPr algn="ctr"/>
            <a:r>
              <a:rPr lang="en-US" sz="13800" b="1" dirty="0"/>
              <a:t>Thank You!</a:t>
            </a:r>
            <a:endParaRPr lang="en-US" sz="13800" dirty="0"/>
          </a:p>
        </p:txBody>
      </p:sp>
    </p:spTree>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241</TotalTime>
  <Words>985</Words>
  <Application>Microsoft Office PowerPoint</Application>
  <PresentationFormat>Custom</PresentationFormat>
  <Paragraphs>62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 Light</vt:lpstr>
      <vt:lpstr>Trebuchet MS</vt:lpstr>
      <vt:lpstr>Metropolitan</vt:lpstr>
      <vt:lpstr>Exploratory Data Analysis</vt:lpstr>
      <vt:lpstr>INTRODUCTION</vt:lpstr>
      <vt:lpstr>UNIVARIATE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Collection &amp; Analysis Educational Presentation in Pink and Blue Lined Style</dc:title>
  <dc:creator>Siddhi Shilkar</dc:creator>
  <cp:keywords>DAGPykfnsBc,BAFzH4WXzKY</cp:keywords>
  <cp:lastModifiedBy>Anish Singh</cp:lastModifiedBy>
  <cp:revision>16</cp:revision>
  <dcterms:created xsi:type="dcterms:W3CDTF">2024-09-04T10:19:26Z</dcterms:created>
  <dcterms:modified xsi:type="dcterms:W3CDTF">2024-10-06T10:04:21Z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2024-09-04T00:00:00Z</vt:filetime>
  </property>
  <property fmtid="{D5CDD505-2E9C-101B-9397-08002B2CF9AE}" pid="3" name="Creator">
    <vt:lpwstr>Canva</vt:lpwstr>
  </property>
  <property fmtid="{D5CDD505-2E9C-101B-9397-08002B2CF9AE}" pid="4" name="LastSaved">
    <vt:filetime>2024-09-04T00:00:00Z</vt:filetime>
  </property>
</Properties>
</file>